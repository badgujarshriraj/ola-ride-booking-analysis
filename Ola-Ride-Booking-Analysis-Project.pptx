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6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63" r:id="rId14"/>
    <p:sldId id="264" r:id="rId15"/>
  </p:sldIdLst>
  <p:sldSz cx="12192000" cy="6858000"/>
  <p:notesSz cx="6858000" cy="12192000"/>
  <p:embeddedFontLst>
    <p:embeddedFont>
      <p:font typeface="Dela Gothic One" panose="020B0604020202020204" charset="-128"/>
      <p:regular r:id="rId17"/>
    </p:embeddedFont>
    <p:embeddedFont>
      <p:font typeface="DM Sans" pitchFamily="2" charset="0"/>
      <p:regular r:id="rId18"/>
    </p:embeddedFont>
    <p:embeddedFont>
      <p:font typeface="DM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07.40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24120,'2515'0'0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15.45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32 24575,'19'0'0,"17"1"0,0-2 0,0-2 0,55-10 0,-48 6 0,-1 2 0,1 2 0,0 2 0,44 4 0,9 0 0,1900-3-1365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22.35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23892,'2565'0'0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25.80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1 104 24470,'2617'-103'0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3:59.36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26 24559,'2929'-26'0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4:02.50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23892,'2618'0'0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32.73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28 24575,'30'-1'0,"58"-11"0,-58 6 0,56-2 0,1606 7 228,-790 3-1821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35.81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24575,'2851'0'-1365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4:15.21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55 24575,'520'0'0,"-494"-1"0,-1-2 0,31-6 0,-28 3 0,44-2 0,57 10 0,55-4 0,-123-10 0,-46 8 0,0 1 0,23-2 0,344 2 0,-196 5 0,542-2 0,-709 1 113,1 1 1,34 8-1,-33-5-681,0-1-1,23 1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4:18.54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24575,'1841'0'0,"-1818"1"0,-1 2 0,32 6 0,29 4 0,2 0 0,-62-8 0,0-1 0,27 1 0,313-6-1365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41.21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24575,'2801'0'-1365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43.87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80 24575,'233'-16'0,"-100"6"0,172 8 0,-143 4 0,-62 0 0,109-5 0,-123-9 0,-52 7 0,48-3 0,56 9 0,68-2 0,-128-11 0,13-1 0,335 10 190,-220 5-1745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45.87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62 24575,'49'0'0,"8"1"0,1-2 0,91-15 0,-117 12 0,2 1 0,54 1 0,16 0 0,-87 0-227,0-2-1,0 0 1,-1 0-1,1-2 1,19-9-1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4:35.44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0 105 24575,'6'0'0,"0"-1"0,-1 0 0,1 0 0,0-1 0,8-3 0,18-5 0,30 4 0,1 3 0,75 4 0,-34 2 0,4-1 0,121-5 0,-159-9 0,-48 7 0,36-3 0,27 5 0,99-10 0,-139 8 0,61 2 0,-1 0 0,-2-9 0,52-2 0,493 15 0,-637-1 0,-1 0 0,1 1 0,0 1 0,-1 0 0,1 0 0,-1 1 0,0 0 0,0 1 0,0 0 0,0 1 0,-1 0 0,0 0 0,14 11 0,-18-12 31,0-1-1,0 0 0,1 0 0,-1-1 1,1 0-1,9 3 0,10 4-1607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4:38.86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23892,'2489'0'0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50.20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52.94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24438,'2670'0'0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2:56.05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24575,'2462'0'-1365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4:58.95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1 109 24575,'223'1'0,"264"-3"0,-3-28 0,-63-34 0,-379 57 0,0 3 0,0 1 0,72 6 0,-24-1 0,455-2 0,-542 0 0,1 0 0,0 0 0,0 0 0,-1 0 0,1 1 0,0 0 0,-1-1 0,1 1 0,-1 1 0,1-1 0,-1 0 0,1 1 0,-1 0 0,6 4 0,-7-4 0,0 1 0,0 0 0,0 0 0,0 0 0,0 0 0,-1 0 0,1 0 0,-1 0 0,0 0 0,0 1 0,0-1 0,0 0 0,0 1 0,-1-1 0,0 1 0,0 4 0,1 119 0,-1-125 0,0 0 0,0 0 0,0 0 0,0 0 0,0 0 0,-1 0 0,1-1 0,-1 1 0,1 0 0,-1 0 0,0 0 0,1-1 0,-1 1 0,0 0 0,0-1 0,-1 1 0,1-1 0,0 1 0,0-1 0,-1 1 0,1-1 0,-1 0 0,1 0 0,-1 0 0,1 1 0,-1-2 0,0 1 0,0 0 0,1 0 0,-1 0 0,-3 0 0,-8 2 0,0 0 0,0 0 0,-24 0 0,2 1 0,-36 16 0,51-13 0,0-2 0,-1 0 0,1-1 0,-27 2 0,-353-6 0,178-2 0,-1176 2 0,1351 5-1365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3:05.23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52 24462,'2695'-51'0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3:08.31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24438,'2566'52'0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5:10.2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1 131 24575,'602'0'0,"-582"-2"0,0-1 0,0 0 0,0-2 0,0 0 0,36-15 0,9-3 0,-39 17 0,0 0 0,0 2 0,42-1 0,82 6 0,-50 2 0,-11-2 0,11 0 0,113-13 0,190-4 0,-384 15 0,0-1 0,36-8 0,-35 5 0,1 1 0,24-1 0,293 6 0,-332-1 0,0 0 0,0 0 0,0 1 0,0 0 0,-1 0 0,1 0 0,0 1 0,0 0 0,-1 0 0,1 0 0,-1 1 0,0 0 0,0 0 0,8 6 0,-6-2 0,0 0 0,-1 0 0,0 1 0,-1 0 0,1 0 0,-1 0 0,-1 0 0,5 13 0,-5-14 0,0-1 0,0 1 0,0-1 0,6 7 0,-6-9 0,-1 0 0,0 0 0,0 1 0,0-1 0,0 1 0,-1 0 0,1 0 0,-1 0 0,0 0 0,1 8 0,-1-3 0,-1-1 0,0 0 0,0 0 0,-1 1 0,0-1 0,-3 13 0,3-19 0,-1 0 0,0-1 0,1 1 0,-1-1 0,0 1 0,0-1 0,-1 0 0,1 0 0,-1 1 0,1-1 0,-1 0 0,1 0 0,-1 0 0,0 0 0,0-1 0,0 1 0,0 0 0,0-1 0,-1 1 0,1-1 0,0 0 0,-1 0 0,1 0 0,-1 0 0,1 0 0,-6 0 0,-19 3 0,-1-2 0,1-2 0,-50-3 0,0-1 0,-805 4 0,859 1 0,1 2 0,0 0 0,0 2 0,-35 11 0,-32 7 0,71-20 0,-30 7 0,-96 5 0,24-3 0,11 0 0,76-10 0,0 1 0,-42 9 0,36-6 0,0-2 0,-1-1 0,-65-5 0,30 1 0,73 1 7,-4 0-203,1 0 0,-1-1 0,1 1 0,0-1 0,-1 0 0,-6-2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9:33:20.02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0 184 24575,'37'0'0,"0"1"0,0-2 0,0-1 0,60-12 0,-68 9 0,58-4 0,-2 2 0,50-5 0,-64 7 0,-58 3 0,0-1 0,1 0 0,-1-1 0,18-8 0,-17 7 0,1 0 0,-1 0 0,22-3 0,198-38 0,-210 42 0,43-4 0,9 0 0,-2-2 0,1 3 0,145 7 0,-92 2 0,-11-4 0,128 5 0,-165 9 0,-52-6 0,46 2 0,96 12 0,-134-15 0,-1 3 0,0 0 0,-1 2 0,41 19 0,-70-26 0,-1-1 0,0 1 0,0 0 0,0 0 0,-1 0 0,1 1 0,-1 0 0,1-1 0,-1 1 0,0 0 0,-1 0 0,1 1 0,-1-1 0,0 1 0,0-1 0,0 1 0,0 0 0,-1-1 0,0 1 0,0 0 0,0 0 0,-1 0 0,1 0 0,-1 0 0,-1 0 0,1 0 0,-1 0 0,1 0 0,-1 0 0,-1-1 0,-3 10 0,4-11 0,0 0 0,-1-1 0,0 0 0,1 1 0,-1-1 0,0 0 0,0 0 0,-1 0 0,1 0 0,0 0 0,-1-1 0,1 1 0,-1-1 0,1 1 0,-1-1 0,0 0 0,1 0 0,-1 0 0,0-1 0,0 1 0,0 0 0,-3-1 0,-9 2 0,0-2 0,0 1 0,-16-3 0,12 1 0,-10-2 0,1-1 0,0-2 0,-31-9 0,30 7 0,0 1 0,-57-6 0,-328 11 0,205 4 0,-646-2 0,836 2 0,0 0 0,0 1 0,0 1 0,-35 11 0,30-7 0,-1-2 0,-26 4 0,5-2 0,0 2 0,-56 20 0,34-10 0,50-16 0,0 0 0,0-2 0,-29 0 0,28-1 0,0 0 0,0 1 0,-20 5 0,-15 6 0,117-10 0,698-4 0,-741 2 0,-1 1 0,35 8 0,-33-5 0,0-1 0,25 1 0,40-5 0,-44-1 0,1 2 0,56 8 0,-12 2 0,1-4 0,138-7 0,-93-2 0,514 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08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18.png"/><Relationship Id="rId4" Type="http://schemas.openxmlformats.org/officeDocument/2006/relationships/customXml" Target="../ink/ink11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customXml" Target="../ink/ink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jpeg"/><Relationship Id="rId7" Type="http://schemas.openxmlformats.org/officeDocument/2006/relationships/customXml" Target="../ink/ink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16.xml"/><Relationship Id="rId10" Type="http://schemas.openxmlformats.org/officeDocument/2006/relationships/image" Target="../media/image28.png"/><Relationship Id="rId4" Type="http://schemas.openxmlformats.org/officeDocument/2006/relationships/image" Target="../media/image25.svg"/><Relationship Id="rId9" Type="http://schemas.openxmlformats.org/officeDocument/2006/relationships/customXml" Target="../ink/ink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customXml" Target="../ink/ink2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20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2514203"/>
            <a:ext cx="3162618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3" name="Text 1"/>
          <p:cNvSpPr/>
          <p:nvPr/>
        </p:nvSpPr>
        <p:spPr>
          <a:xfrm>
            <a:off x="740153" y="2568277"/>
            <a:ext cx="35557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INTELLIGENCE &amp; DATA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2860576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Ola Ride Booking Analysis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1908" y="3725267"/>
            <a:ext cx="10927878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Sales &amp; Operational Performance Analysis using SQL and Power BI</a:t>
            </a:r>
            <a:endParaRPr lang="en-US" sz="1400" dirty="0"/>
          </a:p>
          <a:p>
            <a:pPr marL="0" indent="0" algn="l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Reporting Period: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July 1–31, 2024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Tools: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SQL, Microsoft Power BI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Objective: Analyze ride volume, revenue, vehicle performance, cancellations, customer behavior, and service quality.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B20A185-0F37-9042-49DA-D46D50D37C94}"/>
                  </a:ext>
                </a:extLst>
              </p14:cNvPr>
              <p14:cNvContentPartPr/>
              <p14:nvPr/>
            </p14:nvContentPartPr>
            <p14:xfrm>
              <a:off x="11140472" y="6624441"/>
              <a:ext cx="905760" cy="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B20A185-0F37-9042-49DA-D46D50D37C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77472" y="6498441"/>
                <a:ext cx="1031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CF8E674-7F4E-AA6D-4D97-9B9680FC18E8}"/>
                  </a:ext>
                </a:extLst>
              </p14:cNvPr>
              <p14:cNvContentPartPr/>
              <p14:nvPr/>
            </p14:nvContentPartPr>
            <p14:xfrm>
              <a:off x="11140472" y="6734601"/>
              <a:ext cx="924840" cy="11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CF8E674-7F4E-AA6D-4D97-9B9680FC18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7832" y="6671601"/>
                <a:ext cx="1050480" cy="13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1137444"/>
            <a:ext cx="2330789" cy="246856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C913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339" y="1186160"/>
            <a:ext cx="274551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 BUSINESS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1908" y="1442740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Overall Business Performance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900487" y="2277666"/>
            <a:ext cx="4835305" cy="5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96,285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31908" y="3004741"/>
            <a:ext cx="537256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Total Booking Requests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1908" y="3359646"/>
            <a:ext cx="537256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demand across July 2024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55804" y="2277666"/>
            <a:ext cx="4835305" cy="5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62.08%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187226" y="3004741"/>
            <a:ext cx="537256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Successful Booking Rate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187226" y="3359646"/>
            <a:ext cx="537256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Significant portion did not convert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0487" y="3980160"/>
            <a:ext cx="4835305" cy="5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28,933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31908" y="4707235"/>
            <a:ext cx="537256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Cancelled Ride Requests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1908" y="5062141"/>
            <a:ext cx="537256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Largest operational opportunity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55804" y="3980160"/>
            <a:ext cx="4835305" cy="5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₹53M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187226" y="4707235"/>
            <a:ext cx="537256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Total Booking Value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187226" y="5062141"/>
            <a:ext cx="537256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in July 2024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1908" y="5473601"/>
            <a:ext cx="1153746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Daily ride volume fluctuated between </a:t>
            </a:r>
            <a:r>
              <a:rPr lang="en-US" sz="12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~3,000–3,450 rides</a:t>
            </a: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Cancellations represent the most critical area for operational improvement.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F74B518-E923-6E45-A7B0-622D5CF3D7A5}"/>
                  </a:ext>
                </a:extLst>
              </p14:cNvPr>
              <p14:cNvContentPartPr/>
              <p14:nvPr/>
            </p14:nvContentPartPr>
            <p14:xfrm>
              <a:off x="11131112" y="6643161"/>
              <a:ext cx="92412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F74B518-E923-6E45-A7B0-622D5CF3D7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68472" y="6580161"/>
                <a:ext cx="10497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E2F7719-509B-5B44-4893-8A9EC5D2D823}"/>
                  </a:ext>
                </a:extLst>
              </p14:cNvPr>
              <p14:cNvContentPartPr/>
              <p14:nvPr/>
            </p14:nvContentPartPr>
            <p14:xfrm>
              <a:off x="11112392" y="6736401"/>
              <a:ext cx="942840" cy="37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2F7719-509B-5B44-4893-8A9EC5D2D8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49752" y="6673761"/>
                <a:ext cx="1068480" cy="16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130E2BD-96EB-3DC3-6D79-C922948E18F0}"/>
                  </a:ext>
                </a:extLst>
              </p14:cNvPr>
              <p14:cNvContentPartPr/>
              <p14:nvPr/>
            </p14:nvContentPartPr>
            <p14:xfrm>
              <a:off x="10972712" y="6633801"/>
              <a:ext cx="1054800" cy="9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130E2BD-96EB-3DC3-6D79-C922948E18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09712" y="6570801"/>
                <a:ext cx="11804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583593C-68DE-194C-66A2-AB4AB603FF8D}"/>
                  </a:ext>
                </a:extLst>
              </p14:cNvPr>
              <p14:cNvContentPartPr/>
              <p14:nvPr/>
            </p14:nvContentPartPr>
            <p14:xfrm>
              <a:off x="11121752" y="6736401"/>
              <a:ext cx="94284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583593C-68DE-194C-66A2-AB4AB603FF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8752" y="6673761"/>
                <a:ext cx="106848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E93DE80-E344-B69E-6076-54544D65B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249" y="157366"/>
            <a:ext cx="11613502" cy="653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7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974130"/>
            <a:ext cx="2139599" cy="219373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C913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524" y="1017389"/>
            <a:ext cx="2575952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VEHICLE TYPE &amp; DISTANCE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1908" y="1239639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Vehicle Type &amp; Distance Analysis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31908" y="2003425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Booking Value by Vehicle Type (₹ Million)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371030"/>
            <a:ext cx="4230185" cy="304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78405" y="2003425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Average Ride Distance by Vehicle Type (km)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405" y="2371030"/>
            <a:ext cx="4230185" cy="30449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1908" y="5675908"/>
            <a:ext cx="11537463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Autos serve short-distance urban travel; Bikes and E-Bikes support longer commutes. Each category addresses distinct customer needs.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57DC1E1-6689-6A7D-8A36-ED9309A3D2B6}"/>
                  </a:ext>
                </a:extLst>
              </p14:cNvPr>
              <p14:cNvContentPartPr/>
              <p14:nvPr/>
            </p14:nvContentPartPr>
            <p14:xfrm>
              <a:off x="11065952" y="6596001"/>
              <a:ext cx="1018080" cy="10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57DC1E1-6689-6A7D-8A36-ED9309A3D2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02952" y="6533001"/>
                <a:ext cx="11437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6405633-2B30-BE46-612B-AB5FE980DF52}"/>
                  </a:ext>
                </a:extLst>
              </p14:cNvPr>
              <p14:cNvContentPartPr/>
              <p14:nvPr/>
            </p14:nvContentPartPr>
            <p14:xfrm>
              <a:off x="11047232" y="6708681"/>
              <a:ext cx="102708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6405633-2B30-BE46-612B-AB5FE980DF5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84592" y="6645681"/>
                <a:ext cx="115272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B5B420-1D18-4567-CEF5-8848D76B3F9B}"/>
                  </a:ext>
                </a:extLst>
              </p14:cNvPr>
              <p14:cNvContentPartPr/>
              <p14:nvPr/>
            </p14:nvContentPartPr>
            <p14:xfrm>
              <a:off x="11121752" y="6595641"/>
              <a:ext cx="952200" cy="19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B5B420-1D18-4567-CEF5-8848D76B3F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59112" y="6533001"/>
                <a:ext cx="10778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ADB4F1-16CC-EC6B-56B2-5F2620F780CC}"/>
                  </a:ext>
                </a:extLst>
              </p14:cNvPr>
              <p14:cNvContentPartPr/>
              <p14:nvPr/>
            </p14:nvContentPartPr>
            <p14:xfrm>
              <a:off x="11140472" y="6699321"/>
              <a:ext cx="924480" cy="1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ADB4F1-16CC-EC6B-56B2-5F2620F780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7832" y="6636321"/>
                <a:ext cx="1050120" cy="1450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D4AE024-9EDD-3C51-94C4-008F91DE1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16" y="151254"/>
            <a:ext cx="11675567" cy="656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1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808534"/>
            <a:ext cx="2604229" cy="219373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C913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524" y="851793"/>
            <a:ext cx="3040582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COMPOSITION &amp; CUSTOMER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1908" y="1074043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Revenue Composition &amp; Customer Value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31908" y="1837829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Payment Method Contribution (₹ Million)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205434"/>
            <a:ext cx="4230185" cy="304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78405" y="1837829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Revenue Insights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78405" y="2190948"/>
            <a:ext cx="5287731" cy="952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Cash</a:t>
            </a: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leads at ₹19M+ — largest payment channel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UPI</a:t>
            </a: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the strongest digital payment (~₹14M)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wallets contribute meaningfully; cards remain low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Accelerating digital payments improves reconciliation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78405" y="3259435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Top High-Value Customers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1908" y="5510312"/>
            <a:ext cx="3565634" cy="539055"/>
          </a:xfrm>
          <a:prstGeom prst="roundRect">
            <a:avLst>
              <a:gd name="adj" fmla="val 11254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2618" y="5661025"/>
            <a:ext cx="3264215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CID308763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313030" y="5510312"/>
            <a:ext cx="3565634" cy="539055"/>
          </a:xfrm>
          <a:prstGeom prst="roundRect">
            <a:avLst>
              <a:gd name="adj" fmla="val 11254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63740" y="5661025"/>
            <a:ext cx="3264215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CID3553074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994152" y="5510312"/>
            <a:ext cx="3565634" cy="539055"/>
          </a:xfrm>
          <a:prstGeom prst="roundRect">
            <a:avLst>
              <a:gd name="adj" fmla="val 11254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44862" y="5661025"/>
            <a:ext cx="3264215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CID734557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58AC976-7989-7C6A-989F-52D052819459}"/>
                  </a:ext>
                </a:extLst>
              </p14:cNvPr>
              <p14:cNvContentPartPr/>
              <p14:nvPr/>
            </p14:nvContentPartPr>
            <p14:xfrm>
              <a:off x="11028512" y="6587361"/>
              <a:ext cx="100872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58AC976-7989-7C6A-989F-52D0528194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65872" y="6524361"/>
                <a:ext cx="113436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72FF72F-2374-7F24-2792-892D54BD69A6}"/>
              </a:ext>
            </a:extLst>
          </p:cNvPr>
          <p:cNvGrpSpPr/>
          <p:nvPr/>
        </p:nvGrpSpPr>
        <p:grpSpPr>
          <a:xfrm>
            <a:off x="11121752" y="6679881"/>
            <a:ext cx="948960" cy="48240"/>
            <a:chOff x="11121752" y="6679881"/>
            <a:chExt cx="948960" cy="4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1C371B-625D-452D-2317-F0070F6A7FDB}"/>
                    </a:ext>
                  </a:extLst>
                </p14:cNvPr>
                <p14:cNvContentPartPr/>
                <p14:nvPr/>
              </p14:nvContentPartPr>
              <p14:xfrm>
                <a:off x="11121752" y="6679881"/>
                <a:ext cx="896400" cy="29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1C371B-625D-452D-2317-F0070F6A7F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59112" y="6616881"/>
                  <a:ext cx="1022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30C2AFF-A2F9-9A78-808F-BB179E6518A8}"/>
                    </a:ext>
                  </a:extLst>
                </p14:cNvPr>
                <p14:cNvContentPartPr/>
                <p14:nvPr/>
              </p14:nvContentPartPr>
              <p14:xfrm>
                <a:off x="11821592" y="6705081"/>
                <a:ext cx="249120" cy="23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30C2AFF-A2F9-9A78-808F-BB179E6518A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58952" y="6642081"/>
                  <a:ext cx="374760" cy="148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E125A9-A1D7-085B-FCD6-F95E24789C9E}"/>
                  </a:ext>
                </a:extLst>
              </p14:cNvPr>
              <p14:cNvContentPartPr/>
              <p14:nvPr/>
            </p14:nvContentPartPr>
            <p14:xfrm>
              <a:off x="11112752" y="6624081"/>
              <a:ext cx="931680" cy="38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E125A9-A1D7-085B-FCD6-F95E24789C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49752" y="6561441"/>
                <a:ext cx="10573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4F69AA-7852-DFFA-7213-3D290A2A162B}"/>
                  </a:ext>
                </a:extLst>
              </p14:cNvPr>
              <p14:cNvContentPartPr/>
              <p14:nvPr/>
            </p14:nvContentPartPr>
            <p14:xfrm>
              <a:off x="11149832" y="6727041"/>
              <a:ext cx="89640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4F69AA-7852-DFFA-7213-3D290A2A16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86832" y="6664041"/>
                <a:ext cx="102204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2F19724-41AB-7FA4-1B1A-794BD33BF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249" y="91486"/>
            <a:ext cx="11613502" cy="653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03794" y="905073"/>
            <a:ext cx="1561664" cy="205680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4" name="Text 1"/>
          <p:cNvSpPr/>
          <p:nvPr/>
        </p:nvSpPr>
        <p:spPr>
          <a:xfrm>
            <a:off x="5284953" y="945654"/>
            <a:ext cx="2008931" cy="1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OPERATIONAL BOTTLENECK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203794" y="1151334"/>
            <a:ext cx="6355993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Cancellation Analysis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203794" y="1749127"/>
            <a:ext cx="6965577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28,933 ride requests cancelled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most critical operational gap in July 2024.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794" y="2052935"/>
            <a:ext cx="6355993" cy="12322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34373" y="2207320"/>
            <a:ext cx="5971033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Customer Cancellations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34373" y="2490986"/>
            <a:ext cx="5971033" cy="63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 not moving toward pickup location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 asking customer to cancel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Erodes trust and reduces ride conversion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794" y="3386733"/>
            <a:ext cx="6355993" cy="12322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34373" y="3541117"/>
            <a:ext cx="5971033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Driver Cancellations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434373" y="3824784"/>
            <a:ext cx="5971033" cy="63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and vehicle-related issues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Customer-related conflicts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Passenger capacity constraints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794" y="4720530"/>
            <a:ext cx="6355993" cy="12322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34373" y="4874915"/>
            <a:ext cx="5971033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434373" y="5158581"/>
            <a:ext cx="5971033" cy="63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Lost booking revenue and opportunities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successful booking rate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Poor customer experience and competitor switching</a:t>
            </a:r>
            <a:endParaRPr lang="en-US" sz="10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04B1B73-7A3A-DBA9-E8DC-33C27C810349}"/>
                  </a:ext>
                </a:extLst>
              </p14:cNvPr>
              <p14:cNvContentPartPr/>
              <p14:nvPr/>
            </p14:nvContentPartPr>
            <p14:xfrm>
              <a:off x="11094032" y="6587361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04B1B73-7A3A-DBA9-E8DC-33C27C8103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31032" y="652436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B85289-763C-6520-776A-B739688097D9}"/>
                  </a:ext>
                </a:extLst>
              </p14:cNvPr>
              <p14:cNvContentPartPr/>
              <p14:nvPr/>
            </p14:nvContentPartPr>
            <p14:xfrm>
              <a:off x="11093672" y="6633801"/>
              <a:ext cx="961560" cy="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B85289-763C-6520-776A-B739688097D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31032" y="6507801"/>
                <a:ext cx="1087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485E927-09BD-BC08-3315-95C4B6152C51}"/>
                  </a:ext>
                </a:extLst>
              </p14:cNvPr>
              <p14:cNvContentPartPr/>
              <p14:nvPr/>
            </p14:nvContentPartPr>
            <p14:xfrm>
              <a:off x="11159192" y="6736401"/>
              <a:ext cx="88704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485E927-09BD-BC08-3315-95C4B6152C5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96552" y="6673761"/>
                <a:ext cx="101268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98DD10-B291-F3B1-729D-2B828653CACD}"/>
                  </a:ext>
                </a:extLst>
              </p14:cNvPr>
              <p14:cNvContentPartPr/>
              <p14:nvPr/>
            </p14:nvContentPartPr>
            <p14:xfrm>
              <a:off x="11121752" y="6613641"/>
              <a:ext cx="925920" cy="115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98DD10-B291-F3B1-729D-2B828653CA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59112" y="6550641"/>
                <a:ext cx="1051560" cy="2412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64FBED2-2ED1-CD44-B01A-1C3129388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96" y="128799"/>
            <a:ext cx="11706808" cy="658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59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974130"/>
            <a:ext cx="2189802" cy="219373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C913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524" y="1017389"/>
            <a:ext cx="2626155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SERVICE QUALITY &amp; RATING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1908" y="1239639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Service Quality &amp; Rating Analysis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31908" y="2003425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Driver Ratings by Vehicle Type (out of 5)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371030"/>
            <a:ext cx="4230185" cy="304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78405" y="2003425"/>
            <a:ext cx="5287731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Customer Ratings by Vehicle Type (out of 5)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405" y="2371030"/>
            <a:ext cx="4230185" cy="30449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1908" y="5675908"/>
            <a:ext cx="11537463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 service quality is </a:t>
            </a:r>
            <a:r>
              <a:rPr lang="en-US" sz="11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healthy and consistent</a:t>
            </a: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near 4.0/5. Two-wheeler categories show a slight gap — vehicle maintenance and driver support can close it.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C169E9A-1B97-02DD-4275-C528AF6C772F}"/>
                  </a:ext>
                </a:extLst>
              </p14:cNvPr>
              <p14:cNvContentPartPr/>
              <p14:nvPr/>
            </p14:nvContentPartPr>
            <p14:xfrm>
              <a:off x="11084672" y="6615081"/>
              <a:ext cx="970560" cy="18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C169E9A-1B97-02DD-4275-C528AF6C77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21672" y="6552441"/>
                <a:ext cx="109620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657633D-9EDB-57E9-41F0-61C9CC8DAA8F}"/>
                  </a:ext>
                </a:extLst>
              </p14:cNvPr>
              <p14:cNvContentPartPr/>
              <p14:nvPr/>
            </p14:nvContentPartPr>
            <p14:xfrm>
              <a:off x="11140472" y="6727041"/>
              <a:ext cx="924120" cy="19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657633D-9EDB-57E9-41F0-61C9CC8DAA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77472" y="6664041"/>
                <a:ext cx="1049760" cy="14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DDFB60-89B6-70ED-6384-172D301983B2}"/>
                  </a:ext>
                </a:extLst>
              </p14:cNvPr>
              <p14:cNvContentPartPr/>
              <p14:nvPr/>
            </p14:nvContentPartPr>
            <p14:xfrm>
              <a:off x="11056592" y="6605721"/>
              <a:ext cx="990360" cy="16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DDFB60-89B6-70ED-6384-172D301983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93952" y="6542721"/>
                <a:ext cx="1116000" cy="2952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283DDD3-D2D5-EFB9-1299-CFC9B1A13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61" y="110670"/>
            <a:ext cx="11697478" cy="657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58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656233"/>
            <a:ext cx="1710786" cy="191988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C913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7710" y="694134"/>
            <a:ext cx="2168768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ANALYTICS 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1908" y="883543"/>
            <a:ext cx="10927878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Analytics Methodology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611" y="1431925"/>
            <a:ext cx="7586473" cy="32715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13106" y="4077321"/>
            <a:ext cx="1811591" cy="22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13106" y="3320013"/>
            <a:ext cx="1879479" cy="22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SQL Aggregation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813106" y="2570354"/>
            <a:ext cx="1811591" cy="22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SQL Cleaning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13106" y="1813045"/>
            <a:ext cx="1935893" cy="22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Raw Booking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1908" y="4891385"/>
            <a:ext cx="530975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SQL Tasks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1908" y="5187652"/>
            <a:ext cx="5309757" cy="983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Filtering successful bookings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Calculating booking values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Aggregating vehicle performance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Analyzing cancellation reasons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Identifying top customers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56379" y="4891385"/>
            <a:ext cx="530975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Power BI Dashboard Pages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56379" y="5187652"/>
            <a:ext cx="5309757" cy="983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 Health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Vehicle Types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Cancellations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1141512"/>
            <a:ext cx="3497373" cy="274241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C913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153" y="1195586"/>
            <a:ext cx="389046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FINDINGS &amp; STRATEGIC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1487884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Findings &amp; Strategic Recommendations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01836" y="2946499"/>
            <a:ext cx="5503824" cy="2769989"/>
          </a:xfrm>
          <a:prstGeom prst="roundRect">
            <a:avLst>
              <a:gd name="adj" fmla="val 4693"/>
            </a:avLst>
          </a:prstGeom>
          <a:solidFill>
            <a:srgbClr val="C91313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2310" y="3126978"/>
            <a:ext cx="514287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82310" y="3604320"/>
            <a:ext cx="5142875" cy="2049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Strong demand</a:t>
            </a: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96,285 booking requests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High cancellations</a:t>
            </a: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28,933 lost rides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Two-wheeler &amp; Auto strength</a:t>
            </a: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high booking value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Cash dependency</a:t>
            </a: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largest payment method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Healthy ratings</a:t>
            </a: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near 4/5 across fleet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High-value customers</a:t>
            </a: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concentrated booking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2457" y="3126978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Strategic Recommendations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22457" y="3604320"/>
            <a:ext cx="5243679" cy="1697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Reduce cancellations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improve driver tracking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Enforce driver compliance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stricter trip allocation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Increase digital payments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UPI incentives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Improve two-wheeler quality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maintenance and safety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Build customer loyalty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personalized retention offers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93328"/>
            <a:ext cx="1998216" cy="219373"/>
          </a:xfrm>
          <a:prstGeom prst="roundRect">
            <a:avLst>
              <a:gd name="adj" fmla="val 22123"/>
            </a:avLst>
          </a:prstGeom>
          <a:solidFill>
            <a:srgbClr val="460707"/>
          </a:solidFill>
          <a:ln/>
        </p:spPr>
      </p:sp>
      <p:sp>
        <p:nvSpPr>
          <p:cNvPr id="3" name="Text 1"/>
          <p:cNvSpPr/>
          <p:nvPr/>
        </p:nvSpPr>
        <p:spPr>
          <a:xfrm>
            <a:off x="718524" y="636587"/>
            <a:ext cx="2434569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 &amp; BUSINESS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1908" y="858838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 &amp; Business Impact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31908" y="1507133"/>
            <a:ext cx="11537463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Ola has </a:t>
            </a:r>
            <a:r>
              <a:rPr lang="en-US" sz="11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strong demand and healthy service ratings</a:t>
            </a: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but operational inefficiencies prevent many bookings from becoming successful rides.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1908" y="1845072"/>
            <a:ext cx="5406195" cy="816273"/>
          </a:xfrm>
          <a:prstGeom prst="roundRect">
            <a:avLst>
              <a:gd name="adj" fmla="val 743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618" y="1995785"/>
            <a:ext cx="5104776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96,285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2618" y="2302669"/>
            <a:ext cx="5104776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Requests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3591" y="1845072"/>
            <a:ext cx="5406195" cy="816273"/>
          </a:xfrm>
          <a:prstGeom prst="roundRect">
            <a:avLst>
              <a:gd name="adj" fmla="val 743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4301" y="1995785"/>
            <a:ext cx="5104776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₹53M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04301" y="2302669"/>
            <a:ext cx="5104776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Booking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1908" y="2776835"/>
            <a:ext cx="5406195" cy="816273"/>
          </a:xfrm>
          <a:prstGeom prst="roundRect">
            <a:avLst>
              <a:gd name="adj" fmla="val 743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2618" y="2927548"/>
            <a:ext cx="5104776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62.08%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2618" y="3234432"/>
            <a:ext cx="5104776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Successful Booking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591" y="2776835"/>
            <a:ext cx="5406195" cy="816273"/>
          </a:xfrm>
          <a:prstGeom prst="roundRect">
            <a:avLst>
              <a:gd name="adj" fmla="val 743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4301" y="2927548"/>
            <a:ext cx="5104776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~4.0/5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04301" y="3234432"/>
            <a:ext cx="5104776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Ratings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8498" y="3853061"/>
            <a:ext cx="10711289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Improving ride conversion — through better driver monitoring, digital payments, fleet quality, and customer retention — can grow revenue without relying on new customer acquisition.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1908" y="3723084"/>
            <a:ext cx="19050" cy="675878"/>
          </a:xfrm>
          <a:prstGeom prst="roundRect">
            <a:avLst>
              <a:gd name="adj" fmla="val 49999"/>
            </a:avLst>
          </a:prstGeom>
          <a:solidFill>
            <a:srgbClr val="C91313"/>
          </a:solidFill>
          <a:ln/>
        </p:spPr>
      </p:sp>
      <p:sp>
        <p:nvSpPr>
          <p:cNvPr id="20" name="Text 18"/>
          <p:cNvSpPr/>
          <p:nvPr/>
        </p:nvSpPr>
        <p:spPr>
          <a:xfrm>
            <a:off x="631908" y="4572198"/>
            <a:ext cx="10927878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1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Turning Ride Data into Business Decisions</a:t>
            </a:r>
            <a:endParaRPr lang="en-US" sz="4100" dirty="0"/>
          </a:p>
        </p:txBody>
      </p:sp>
      <p:sp>
        <p:nvSpPr>
          <p:cNvPr id="21" name="Text 19"/>
          <p:cNvSpPr/>
          <p:nvPr/>
        </p:nvSpPr>
        <p:spPr>
          <a:xfrm>
            <a:off x="631908" y="6056709"/>
            <a:ext cx="11537463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Tools:</a:t>
            </a: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SQL · Power BI · Data Analysis · Business Intelligence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9780515-249A-E0B3-77C1-4BF1366A6D0E}"/>
                  </a:ext>
                </a:extLst>
              </p14:cNvPr>
              <p14:cNvContentPartPr/>
              <p14:nvPr/>
            </p14:nvContentPartPr>
            <p14:xfrm>
              <a:off x="11084672" y="6577281"/>
              <a:ext cx="973080" cy="160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9780515-249A-E0B3-77C1-4BF1366A6D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21672" y="6514281"/>
                <a:ext cx="1098720" cy="28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572</Words>
  <Application>Microsoft Office PowerPoint</Application>
  <PresentationFormat>Widescreen</PresentationFormat>
  <Paragraphs>113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DM Sans</vt:lpstr>
      <vt:lpstr>DM Sans Bold</vt:lpstr>
      <vt:lpstr>Arial</vt:lpstr>
      <vt:lpstr>Dela Gothic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HP</cp:lastModifiedBy>
  <cp:revision>2</cp:revision>
  <dcterms:created xsi:type="dcterms:W3CDTF">2026-09-03T19:30:44Z</dcterms:created>
  <dcterms:modified xsi:type="dcterms:W3CDTF">2026-09-03T19:41:27Z</dcterms:modified>
</cp:coreProperties>
</file>